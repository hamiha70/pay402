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BFC37-53C6-4B0D-A585-7755B6F24B92}" v="11" dt="2026-02-08T14:34:32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004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-Michael Hauser" userId="bdd30abb5c1a4624" providerId="LiveId" clId="{73B419AE-A2BA-4BC5-8256-A9B299EFB0F3}"/>
    <pc:docChg chg="undo custSel modSld">
      <pc:chgData name="Hans-Michael Hauser" userId="bdd30abb5c1a4624" providerId="LiveId" clId="{73B419AE-A2BA-4BC5-8256-A9B299EFB0F3}" dt="2026-02-08T14:39:54.814" v="381" actId="20577"/>
      <pc:docMkLst>
        <pc:docMk/>
      </pc:docMkLst>
      <pc:sldChg chg="delSp modSp mod">
        <pc:chgData name="Hans-Michael Hauser" userId="bdd30abb5c1a4624" providerId="LiveId" clId="{73B419AE-A2BA-4BC5-8256-A9B299EFB0F3}" dt="2026-02-08T14:35:09.768" v="159" actId="1035"/>
        <pc:sldMkLst>
          <pc:docMk/>
          <pc:sldMk cId="0" sldId="256"/>
        </pc:sldMkLst>
        <pc:spChg chg="del mod">
          <ac:chgData name="Hans-Michael Hauser" userId="bdd30abb5c1a4624" providerId="LiveId" clId="{73B419AE-A2BA-4BC5-8256-A9B299EFB0F3}" dt="2026-02-08T14:34:46.496" v="116"/>
          <ac:spMkLst>
            <pc:docMk/>
            <pc:sldMk cId="0" sldId="256"/>
            <ac:spMk id="3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4:58.920" v="11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5:09.768" v="159" actId="1035"/>
          <ac:spMkLst>
            <pc:docMk/>
            <pc:sldMk cId="0" sldId="256"/>
            <ac:spMk id="5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5:09.768" v="159" actId="1035"/>
          <ac:spMkLst>
            <pc:docMk/>
            <pc:sldMk cId="0" sldId="256"/>
            <ac:spMk id="6" creationId="{00000000-0000-0000-0000-000000000000}"/>
          </ac:spMkLst>
        </pc:spChg>
        <pc:picChg chg="mod">
          <ac:chgData name="Hans-Michael Hauser" userId="bdd30abb5c1a4624" providerId="LiveId" clId="{73B419AE-A2BA-4BC5-8256-A9B299EFB0F3}" dt="2026-02-08T14:34:53.692" v="118" actId="1076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Hans-Michael Hauser" userId="bdd30abb5c1a4624" providerId="LiveId" clId="{73B419AE-A2BA-4BC5-8256-A9B299EFB0F3}" dt="2026-02-08T14:35:09.768" v="159" actId="1035"/>
          <ac:picMkLst>
            <pc:docMk/>
            <pc:sldMk cId="0" sldId="256"/>
            <ac:picMk id="7" creationId="{00000000-0000-0000-0000-000000000000}"/>
          </ac:picMkLst>
        </pc:picChg>
      </pc:sldChg>
      <pc:sldChg chg="delSp modSp mod">
        <pc:chgData name="Hans-Michael Hauser" userId="bdd30abb5c1a4624" providerId="LiveId" clId="{73B419AE-A2BA-4BC5-8256-A9B299EFB0F3}" dt="2026-02-08T14:31:53.340" v="79" actId="20577"/>
        <pc:sldMkLst>
          <pc:docMk/>
          <pc:sldMk cId="0" sldId="257"/>
        </pc:sldMkLst>
        <pc:spChg chg="del mod">
          <ac:chgData name="Hans-Michael Hauser" userId="bdd30abb5c1a4624" providerId="LiveId" clId="{73B419AE-A2BA-4BC5-8256-A9B299EFB0F3}" dt="2026-02-08T14:30:53.959" v="24"/>
          <ac:spMkLst>
            <pc:docMk/>
            <pc:sldMk cId="0" sldId="257"/>
            <ac:spMk id="4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0:59.811" v="42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1:53.340" v="7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1:07.892" v="43" actId="20577"/>
          <ac:spMkLst>
            <pc:docMk/>
            <pc:sldMk cId="0" sldId="257"/>
            <ac:spMk id="9" creationId="{00000000-0000-0000-0000-000000000000}"/>
          </ac:spMkLst>
        </pc:spChg>
        <pc:graphicFrameChg chg="mod">
          <ac:chgData name="Hans-Michael Hauser" userId="bdd30abb5c1a4624" providerId="LiveId" clId="{73B419AE-A2BA-4BC5-8256-A9B299EFB0F3}" dt="2026-02-08T14:31:16.283" v="75" actId="1036"/>
          <ac:graphicFrameMkLst>
            <pc:docMk/>
            <pc:sldMk cId="0" sldId="257"/>
            <ac:graphicFrameMk id="5" creationId="{00000000-0000-0000-0000-000000000000}"/>
          </ac:graphicFrameMkLst>
        </pc:graphicFrameChg>
        <pc:picChg chg="mod">
          <ac:chgData name="Hans-Michael Hauser" userId="bdd30abb5c1a4624" providerId="LiveId" clId="{73B419AE-A2BA-4BC5-8256-A9B299EFB0F3}" dt="2026-02-08T14:31:27.241" v="77" actId="1076"/>
          <ac:picMkLst>
            <pc:docMk/>
            <pc:sldMk cId="0" sldId="257"/>
            <ac:picMk id="3" creationId="{00000000-0000-0000-0000-000000000000}"/>
          </ac:picMkLst>
        </pc:picChg>
      </pc:sldChg>
      <pc:sldChg chg="addSp delSp modSp mod">
        <pc:chgData name="Hans-Michael Hauser" userId="bdd30abb5c1a4624" providerId="LiveId" clId="{73B419AE-A2BA-4BC5-8256-A9B299EFB0F3}" dt="2026-02-08T14:37:16.500" v="277" actId="20577"/>
        <pc:sldMkLst>
          <pc:docMk/>
          <pc:sldMk cId="0" sldId="258"/>
        </pc:sldMkLst>
        <pc:spChg chg="mod">
          <ac:chgData name="Hans-Michael Hauser" userId="bdd30abb5c1a4624" providerId="LiveId" clId="{73B419AE-A2BA-4BC5-8256-A9B299EFB0F3}" dt="2026-02-08T14:36:00.450" v="21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Hans-Michael Hauser" userId="bdd30abb5c1a4624" providerId="LiveId" clId="{73B419AE-A2BA-4BC5-8256-A9B299EFB0F3}" dt="2026-02-08T14:36:05.016" v="215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6:13.117" v="240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6:35.950" v="253" actId="20577"/>
          <ac:spMkLst>
            <pc:docMk/>
            <pc:sldMk cId="0" sldId="258"/>
            <ac:spMk id="8" creationId="{00000000-0000-0000-0000-000000000000}"/>
          </ac:spMkLst>
        </pc:spChg>
        <pc:graphicFrameChg chg="mod modGraphic">
          <ac:chgData name="Hans-Michael Hauser" userId="bdd30abb5c1a4624" providerId="LiveId" clId="{73B419AE-A2BA-4BC5-8256-A9B299EFB0F3}" dt="2026-02-08T14:37:16.500" v="277" actId="20577"/>
          <ac:graphicFrameMkLst>
            <pc:docMk/>
            <pc:sldMk cId="0" sldId="258"/>
            <ac:graphicFrameMk id="6" creationId="{00000000-0000-0000-0000-000000000000}"/>
          </ac:graphicFrameMkLst>
        </pc:graphicFrameChg>
        <pc:picChg chg="del">
          <ac:chgData name="Hans-Michael Hauser" userId="bdd30abb5c1a4624" providerId="LiveId" clId="{73B419AE-A2BA-4BC5-8256-A9B299EFB0F3}" dt="2026-02-08T14:32:06.171" v="80" actId="478"/>
          <ac:picMkLst>
            <pc:docMk/>
            <pc:sldMk cId="0" sldId="258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2:08.196" v="81"/>
          <ac:picMkLst>
            <pc:docMk/>
            <pc:sldMk cId="0" sldId="258"/>
            <ac:picMk id="9" creationId="{882E9894-167D-A349-1E54-D0ADFEEEE0FA}"/>
          </ac:picMkLst>
        </pc:picChg>
      </pc:sldChg>
      <pc:sldChg chg="addSp delSp modSp mod">
        <pc:chgData name="Hans-Michael Hauser" userId="bdd30abb5c1a4624" providerId="LiveId" clId="{73B419AE-A2BA-4BC5-8256-A9B299EFB0F3}" dt="2026-02-08T14:32:17.560" v="83"/>
        <pc:sldMkLst>
          <pc:docMk/>
          <pc:sldMk cId="0" sldId="259"/>
        </pc:sldMkLst>
        <pc:picChg chg="del">
          <ac:chgData name="Hans-Michael Hauser" userId="bdd30abb5c1a4624" providerId="LiveId" clId="{73B419AE-A2BA-4BC5-8256-A9B299EFB0F3}" dt="2026-02-08T14:32:16.739" v="82" actId="478"/>
          <ac:picMkLst>
            <pc:docMk/>
            <pc:sldMk cId="0" sldId="259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2:17.560" v="83"/>
          <ac:picMkLst>
            <pc:docMk/>
            <pc:sldMk cId="0" sldId="259"/>
            <ac:picMk id="27" creationId="{9E1AE0E0-0B05-1348-0A1C-009024D2C10D}"/>
          </ac:picMkLst>
        </pc:picChg>
      </pc:sldChg>
      <pc:sldChg chg="addSp delSp modSp mod">
        <pc:chgData name="Hans-Michael Hauser" userId="bdd30abb5c1a4624" providerId="LiveId" clId="{73B419AE-A2BA-4BC5-8256-A9B299EFB0F3}" dt="2026-02-08T14:38:52.161" v="323" actId="1035"/>
        <pc:sldMkLst>
          <pc:docMk/>
          <pc:sldMk cId="0" sldId="260"/>
        </pc:sldMkLst>
        <pc:spChg chg="mod">
          <ac:chgData name="Hans-Michael Hauser" userId="bdd30abb5c1a4624" providerId="LiveId" clId="{73B419AE-A2BA-4BC5-8256-A9B299EFB0F3}" dt="2026-02-08T14:38:09.671" v="316" actId="10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8:01.914" v="299" actId="1035"/>
          <ac:spMkLst>
            <pc:docMk/>
            <pc:sldMk cId="0" sldId="260"/>
            <ac:spMk id="5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8:01.914" v="299" actId="1035"/>
          <ac:spMkLst>
            <pc:docMk/>
            <pc:sldMk cId="0" sldId="260"/>
            <ac:spMk id="6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8:09.671" v="316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8:01.914" v="299" actId="1035"/>
          <ac:spMkLst>
            <pc:docMk/>
            <pc:sldMk cId="0" sldId="260"/>
            <ac:spMk id="8" creationId="{00000000-0000-0000-0000-000000000000}"/>
          </ac:spMkLst>
        </pc:spChg>
        <pc:spChg chg="mod">
          <ac:chgData name="Hans-Michael Hauser" userId="bdd30abb5c1a4624" providerId="LiveId" clId="{73B419AE-A2BA-4BC5-8256-A9B299EFB0F3}" dt="2026-02-08T14:38:27.046" v="318" actId="1076"/>
          <ac:spMkLst>
            <pc:docMk/>
            <pc:sldMk cId="0" sldId="260"/>
            <ac:spMk id="9" creationId="{00000000-0000-0000-0000-000000000000}"/>
          </ac:spMkLst>
        </pc:spChg>
        <pc:picChg chg="del">
          <ac:chgData name="Hans-Michael Hauser" userId="bdd30abb5c1a4624" providerId="LiveId" clId="{73B419AE-A2BA-4BC5-8256-A9B299EFB0F3}" dt="2026-02-08T14:32:21.873" v="84" actId="478"/>
          <ac:picMkLst>
            <pc:docMk/>
            <pc:sldMk cId="0" sldId="260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3:57.204" v="104" actId="1036"/>
          <ac:picMkLst>
            <pc:docMk/>
            <pc:sldMk cId="0" sldId="260"/>
            <ac:picMk id="10" creationId="{CAE60A3E-92E5-035E-F0BE-4B180F8D8D04}"/>
          </ac:picMkLst>
        </pc:picChg>
        <pc:picChg chg="add mod">
          <ac:chgData name="Hans-Michael Hauser" userId="bdd30abb5c1a4624" providerId="LiveId" clId="{73B419AE-A2BA-4BC5-8256-A9B299EFB0F3}" dt="2026-02-08T14:38:52.161" v="323" actId="1035"/>
          <ac:picMkLst>
            <pc:docMk/>
            <pc:sldMk cId="0" sldId="260"/>
            <ac:picMk id="11" creationId="{D513289E-1148-5675-2C54-0137FD223B71}"/>
          </ac:picMkLst>
        </pc:picChg>
      </pc:sldChg>
      <pc:sldChg chg="addSp delSp modSp mod">
        <pc:chgData name="Hans-Michael Hauser" userId="bdd30abb5c1a4624" providerId="LiveId" clId="{73B419AE-A2BA-4BC5-8256-A9B299EFB0F3}" dt="2026-02-08T14:39:54.814" v="381" actId="20577"/>
        <pc:sldMkLst>
          <pc:docMk/>
          <pc:sldMk cId="0" sldId="261"/>
        </pc:sldMkLst>
        <pc:spChg chg="mod">
          <ac:chgData name="Hans-Michael Hauser" userId="bdd30abb5c1a4624" providerId="LiveId" clId="{73B419AE-A2BA-4BC5-8256-A9B299EFB0F3}" dt="2026-02-08T14:39:54.814" v="381" actId="20577"/>
          <ac:spMkLst>
            <pc:docMk/>
            <pc:sldMk cId="0" sldId="261"/>
            <ac:spMk id="7" creationId="{00000000-0000-0000-0000-000000000000}"/>
          </ac:spMkLst>
        </pc:spChg>
        <pc:picChg chg="del">
          <ac:chgData name="Hans-Michael Hauser" userId="bdd30abb5c1a4624" providerId="LiveId" clId="{73B419AE-A2BA-4BC5-8256-A9B299EFB0F3}" dt="2026-02-08T14:32:31.328" v="86" actId="478"/>
          <ac:picMkLst>
            <pc:docMk/>
            <pc:sldMk cId="0" sldId="261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2:32.274" v="87"/>
          <ac:picMkLst>
            <pc:docMk/>
            <pc:sldMk cId="0" sldId="261"/>
            <ac:picMk id="8" creationId="{C961A602-9642-5965-5BDA-0A9963BB865C}"/>
          </ac:picMkLst>
        </pc:picChg>
        <pc:picChg chg="add mod">
          <ac:chgData name="Hans-Michael Hauser" userId="bdd30abb5c1a4624" providerId="LiveId" clId="{73B419AE-A2BA-4BC5-8256-A9B299EFB0F3}" dt="2026-02-08T14:34:12.945" v="107"/>
          <ac:picMkLst>
            <pc:docMk/>
            <pc:sldMk cId="0" sldId="261"/>
            <ac:picMk id="9" creationId="{EA60E501-F7BA-2F17-A599-BB285238AF71}"/>
          </ac:picMkLst>
        </pc:picChg>
      </pc:sldChg>
      <pc:sldChg chg="delSp modSp mod">
        <pc:chgData name="Hans-Michael Hauser" userId="bdd30abb5c1a4624" providerId="LiveId" clId="{73B419AE-A2BA-4BC5-8256-A9B299EFB0F3}" dt="2026-02-08T14:33:28.326" v="101" actId="1076"/>
        <pc:sldMkLst>
          <pc:docMk/>
          <pc:sldMk cId="0" sldId="262"/>
        </pc:sldMkLst>
        <pc:spChg chg="del">
          <ac:chgData name="Hans-Michael Hauser" userId="bdd30abb5c1a4624" providerId="LiveId" clId="{73B419AE-A2BA-4BC5-8256-A9B299EFB0F3}" dt="2026-02-08T14:33:06.290" v="95" actId="478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Hans-Michael Hauser" userId="bdd30abb5c1a4624" providerId="LiveId" clId="{73B419AE-A2BA-4BC5-8256-A9B299EFB0F3}" dt="2026-02-08T14:32:50.171" v="92"/>
          <ac:spMkLst>
            <pc:docMk/>
            <pc:sldMk cId="0" sldId="262"/>
            <ac:spMk id="5" creationId="{00000000-0000-0000-0000-000000000000}"/>
          </ac:spMkLst>
        </pc:spChg>
        <pc:picChg chg="mod">
          <ac:chgData name="Hans-Michael Hauser" userId="bdd30abb5c1a4624" providerId="LiveId" clId="{73B419AE-A2BA-4BC5-8256-A9B299EFB0F3}" dt="2026-02-08T14:33:28.326" v="101" actId="1076"/>
          <ac:picMkLst>
            <pc:docMk/>
            <pc:sldMk cId="0" sldId="262"/>
            <ac:picMk id="2" creationId="{00000000-0000-0000-0000-000000000000}"/>
          </ac:picMkLst>
        </pc:picChg>
      </pc:sldChg>
      <pc:sldChg chg="addSp delSp modSp mod">
        <pc:chgData name="Hans-Michael Hauser" userId="bdd30abb5c1a4624" providerId="LiveId" clId="{73B419AE-A2BA-4BC5-8256-A9B299EFB0F3}" dt="2026-02-08T14:34:06.870" v="106"/>
        <pc:sldMkLst>
          <pc:docMk/>
          <pc:sldMk cId="0" sldId="263"/>
        </pc:sldMkLst>
        <pc:picChg chg="del">
          <ac:chgData name="Hans-Michael Hauser" userId="bdd30abb5c1a4624" providerId="LiveId" clId="{73B419AE-A2BA-4BC5-8256-A9B299EFB0F3}" dt="2026-02-08T14:34:05.636" v="105" actId="478"/>
          <ac:picMkLst>
            <pc:docMk/>
            <pc:sldMk cId="0" sldId="263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4:06.870" v="106"/>
          <ac:picMkLst>
            <pc:docMk/>
            <pc:sldMk cId="0" sldId="263"/>
            <ac:picMk id="5" creationId="{3F0CD9DA-992D-ACD1-32D9-78E82D3E17C0}"/>
          </ac:picMkLst>
        </pc:picChg>
      </pc:sldChg>
      <pc:sldChg chg="addSp delSp modSp mod">
        <pc:chgData name="Hans-Michael Hauser" userId="bdd30abb5c1a4624" providerId="LiveId" clId="{73B419AE-A2BA-4BC5-8256-A9B299EFB0F3}" dt="2026-02-08T14:34:17.869" v="109"/>
        <pc:sldMkLst>
          <pc:docMk/>
          <pc:sldMk cId="0" sldId="264"/>
        </pc:sldMkLst>
        <pc:picChg chg="del">
          <ac:chgData name="Hans-Michael Hauser" userId="bdd30abb5c1a4624" providerId="LiveId" clId="{73B419AE-A2BA-4BC5-8256-A9B299EFB0F3}" dt="2026-02-08T14:34:17.036" v="108" actId="478"/>
          <ac:picMkLst>
            <pc:docMk/>
            <pc:sldMk cId="0" sldId="264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4:17.869" v="109"/>
          <ac:picMkLst>
            <pc:docMk/>
            <pc:sldMk cId="0" sldId="264"/>
            <ac:picMk id="6" creationId="{FD171271-1AEB-D591-4BD6-72D5A504BC25}"/>
          </ac:picMkLst>
        </pc:picChg>
      </pc:sldChg>
      <pc:sldChg chg="addSp delSp modSp mod">
        <pc:chgData name="Hans-Michael Hauser" userId="bdd30abb5c1a4624" providerId="LiveId" clId="{73B419AE-A2BA-4BC5-8256-A9B299EFB0F3}" dt="2026-02-08T14:34:26.186" v="111"/>
        <pc:sldMkLst>
          <pc:docMk/>
          <pc:sldMk cId="0" sldId="265"/>
        </pc:sldMkLst>
        <pc:picChg chg="del">
          <ac:chgData name="Hans-Michael Hauser" userId="bdd30abb5c1a4624" providerId="LiveId" clId="{73B419AE-A2BA-4BC5-8256-A9B299EFB0F3}" dt="2026-02-08T14:34:25.553" v="110" actId="478"/>
          <ac:picMkLst>
            <pc:docMk/>
            <pc:sldMk cId="0" sldId="265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4:26.186" v="111"/>
          <ac:picMkLst>
            <pc:docMk/>
            <pc:sldMk cId="0" sldId="265"/>
            <ac:picMk id="7" creationId="{BE2BA5C7-F005-F74D-2F69-68327DDC48BD}"/>
          </ac:picMkLst>
        </pc:picChg>
      </pc:sldChg>
      <pc:sldChg chg="addSp delSp modSp mod">
        <pc:chgData name="Hans-Michael Hauser" userId="bdd30abb5c1a4624" providerId="LiveId" clId="{73B419AE-A2BA-4BC5-8256-A9B299EFB0F3}" dt="2026-02-08T14:34:32.455" v="113"/>
        <pc:sldMkLst>
          <pc:docMk/>
          <pc:sldMk cId="0" sldId="266"/>
        </pc:sldMkLst>
        <pc:picChg chg="del">
          <ac:chgData name="Hans-Michael Hauser" userId="bdd30abb5c1a4624" providerId="LiveId" clId="{73B419AE-A2BA-4BC5-8256-A9B299EFB0F3}" dt="2026-02-08T14:34:31.204" v="112" actId="478"/>
          <ac:picMkLst>
            <pc:docMk/>
            <pc:sldMk cId="0" sldId="266"/>
            <ac:picMk id="3" creationId="{00000000-0000-0000-0000-000000000000}"/>
          </ac:picMkLst>
        </pc:picChg>
        <pc:picChg chg="add mod">
          <ac:chgData name="Hans-Michael Hauser" userId="bdd30abb5c1a4624" providerId="LiveId" clId="{73B419AE-A2BA-4BC5-8256-A9B299EFB0F3}" dt="2026-02-08T14:34:32.455" v="113"/>
          <ac:picMkLst>
            <pc:docMk/>
            <pc:sldMk cId="0" sldId="266"/>
            <ac:picMk id="7" creationId="{49E02E58-648F-F056-13F4-931E253FE3C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y402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-180364"/>
            <a:ext cx="5138257" cy="51382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6315" y="3168522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0D4F7"/>
                </a:solidFill>
              </a:defRPr>
            </a:pPr>
            <a:r>
              <a:rPr dirty="0"/>
              <a:t>First x402 Facilitator on SUI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656" y="4878202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0D4F7"/>
                </a:solidFill>
              </a:defRPr>
            </a:pPr>
            <a:r>
              <a:t>🔗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656" y="542684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merchant-production-0255.up.railway.app</a:t>
            </a:r>
          </a:p>
        </p:txBody>
      </p:sp>
      <p:pic>
        <p:nvPicPr>
          <p:cNvPr id="7" name="Picture 6" descr="dem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576" y="4695322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0D4F7"/>
                </a:solidFill>
              </a:defRPr>
            </a:pPr>
            <a:r>
              <a:t>ETH Global HackMoney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x402: Micropayments Are Here</a:t>
            </a:r>
          </a:p>
        </p:txBody>
      </p:sp>
      <p:pic>
        <p:nvPicPr>
          <p:cNvPr id="3" name="Picture 2" descr="pay402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80185"/>
              </p:ext>
            </p:extLst>
          </p:nvPr>
        </p:nvGraphicFramePr>
        <p:xfrm>
          <a:off x="457200" y="2280131"/>
          <a:ext cx="3931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Chain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Facilitator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Coinbase x402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✅ Live, mainnet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Solana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PayAI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✅ Live, mainnet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SUI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← We're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846320" y="1541907"/>
            <a:ext cx="3840480" cy="3383280"/>
          </a:xfrm>
          <a:prstGeom prst="roundRect">
            <a:avLst/>
          </a:prstGeom>
          <a:solidFill>
            <a:srgbClr val="E0D4F7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0" y="1724787"/>
            <a:ext cx="34747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64BA2"/>
                </a:solidFill>
              </a:defRPr>
            </a:pPr>
            <a:r>
              <a:rPr dirty="0"/>
              <a:t>Market Traction</a:t>
            </a:r>
            <a:endParaRPr lang="en-US" dirty="0"/>
          </a:p>
          <a:p>
            <a:pPr>
              <a:spcAft>
                <a:spcPts val="1200"/>
              </a:spcAft>
              <a:defRPr sz="1400">
                <a:solidFill>
                  <a:srgbClr val="764BA2"/>
                </a:solidFill>
              </a:defRPr>
            </a:pPr>
            <a:r>
              <a:rPr lang="en-US" dirty="0"/>
              <a:t>(December 2025)</a:t>
            </a:r>
          </a:p>
          <a:p>
            <a:pPr>
              <a:spcAft>
                <a:spcPts val="200"/>
              </a:spcAft>
              <a:defRPr sz="1800" b="1">
                <a:solidFill>
                  <a:srgbClr val="764BA2"/>
                </a:solidFill>
              </a:defRPr>
            </a:pPr>
            <a:r>
              <a:rPr dirty="0"/>
              <a:t>$600M</a:t>
            </a:r>
          </a:p>
          <a:p>
            <a:pPr lvl="1">
              <a:spcAft>
                <a:spcPts val="800"/>
              </a:spcAft>
              <a:defRPr sz="1300">
                <a:solidFill>
                  <a:srgbClr val="4A4A4A"/>
                </a:solidFill>
              </a:defRPr>
            </a:pPr>
            <a:r>
              <a:rPr dirty="0"/>
              <a:t>annualized volume</a:t>
            </a:r>
          </a:p>
          <a:p>
            <a:pPr>
              <a:spcAft>
                <a:spcPts val="200"/>
              </a:spcAft>
              <a:defRPr sz="1800" b="1">
                <a:solidFill>
                  <a:srgbClr val="764BA2"/>
                </a:solidFill>
              </a:defRPr>
            </a:pPr>
            <a:r>
              <a:rPr dirty="0"/>
              <a:t>63M+</a:t>
            </a:r>
          </a:p>
          <a:p>
            <a:pPr lvl="1">
              <a:spcAft>
                <a:spcPts val="800"/>
              </a:spcAft>
              <a:defRPr sz="1300">
                <a:solidFill>
                  <a:srgbClr val="4A4A4A"/>
                </a:solidFill>
              </a:defRPr>
            </a:pPr>
            <a:r>
              <a:rPr dirty="0"/>
              <a:t>monthly transactions</a:t>
            </a:r>
          </a:p>
          <a:p>
            <a:pPr>
              <a:spcAft>
                <a:spcPts val="200"/>
              </a:spcAft>
              <a:defRPr sz="1800" b="1">
                <a:solidFill>
                  <a:srgbClr val="764BA2"/>
                </a:solidFill>
              </a:defRPr>
            </a:pPr>
            <a:r>
              <a:rPr dirty="0"/>
              <a:t>$7.5M</a:t>
            </a:r>
          </a:p>
          <a:p>
            <a:pPr lvl="1">
              <a:spcAft>
                <a:spcPts val="800"/>
              </a:spcAft>
              <a:defRPr sz="1300">
                <a:solidFill>
                  <a:srgbClr val="4A4A4A"/>
                </a:solidFill>
              </a:defRPr>
            </a:pPr>
            <a:r>
              <a:rPr dirty="0"/>
              <a:t>monthly USDC</a:t>
            </a:r>
          </a:p>
          <a:p>
            <a:pPr>
              <a:spcAft>
                <a:spcPts val="200"/>
              </a:spcAft>
              <a:defRPr sz="1800" b="1">
                <a:solidFill>
                  <a:srgbClr val="764BA2"/>
                </a:solidFill>
              </a:defRPr>
            </a:pPr>
            <a:r>
              <a:rPr dirty="0"/>
              <a:t>1,100+</a:t>
            </a:r>
          </a:p>
          <a:p>
            <a:pPr lvl="1">
              <a:spcAft>
                <a:spcPts val="800"/>
              </a:spcAft>
              <a:defRPr sz="1300">
                <a:solidFill>
                  <a:srgbClr val="4A4A4A"/>
                </a:solidFill>
              </a:defRPr>
            </a:pPr>
            <a:r>
              <a:rPr dirty="0"/>
              <a:t>projects using x402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86400"/>
            <a:ext cx="8229600" cy="82296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7836" y="5713214"/>
            <a:ext cx="442832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x402 is proven, production-scale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lang="en-US" dirty="0"/>
              <a:t>Micropayments with Zero Friction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64BA2"/>
                </a:solidFill>
              </a:defRPr>
            </a:pPr>
            <a:r>
              <a:t>SUI Unlocks Novel Features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96883"/>
              </p:ext>
            </p:extLst>
          </p:nvPr>
        </p:nvGraphicFramePr>
        <p:xfrm>
          <a:off x="457200" y="2103126"/>
          <a:ext cx="8229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Enabling Technology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64BA2"/>
                          </a:solidFill>
                        </a:defRPr>
                      </a:pPr>
                      <a:r>
                        <a:rPr dirty="0"/>
                        <a:t>Onboarding Non-Crypto Users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</a:defRPr>
                      </a:pPr>
                      <a:r>
                        <a:rPr dirty="0" err="1"/>
                        <a:t>zkLogin</a:t>
                      </a:r>
                      <a:r>
                        <a:rPr dirty="0"/>
                        <a:t> + Enoki</a:t>
                      </a:r>
                      <a:r>
                        <a:rPr lang="en-US" dirty="0"/>
                        <a:t> --&gt; OAuth Wallet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64BA2"/>
                          </a:solidFill>
                        </a:defRPr>
                      </a:pPr>
                      <a:r>
                        <a:rPr dirty="0"/>
                        <a:t>No Browser Wallet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Gas Sponsorship (</a:t>
                      </a:r>
                      <a:r>
                        <a:rPr lang="en-US" dirty="0"/>
                        <a:t>n</a:t>
                      </a:r>
                      <a:r>
                        <a:rPr dirty="0"/>
                        <a:t>ative)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64BA2"/>
                          </a:solidFill>
                        </a:defRPr>
                      </a:pPr>
                      <a:r>
                        <a:t>Low Latency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</a:defRPr>
                      </a:pPr>
                      <a:r>
                        <a:t>Sub-Second Finality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64BA2"/>
                          </a:solidFill>
                        </a:defRPr>
                      </a:pPr>
                      <a:r>
                        <a:t>Audit &amp; Conflict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</a:defRPr>
                      </a:pPr>
                      <a:r>
                        <a:t>Cheap On-Chain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64BA2"/>
                          </a:solidFill>
                        </a:defRPr>
                      </a:pPr>
                      <a:r>
                        <a:t>Flexible Extensions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</a:defRPr>
                      </a:pPr>
                      <a:r>
                        <a:t>Programmable Transaction Blocks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764BA2"/>
                          </a:solidFill>
                        </a:defRPr>
                      </a:pPr>
                      <a:r>
                        <a:t>Massive 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</a:defRPr>
                      </a:pPr>
                      <a:r>
                        <a:rPr dirty="0"/>
                        <a:t>Object Model (Owned Objects)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61251" y="6086668"/>
            <a:ext cx="3621505" cy="3539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lang="en-US" dirty="0"/>
              <a:t>Difficult o</a:t>
            </a:r>
            <a:r>
              <a:rPr dirty="0"/>
              <a:t>r impossible on EVM/Solana</a:t>
            </a:r>
          </a:p>
        </p:txBody>
      </p:sp>
      <p:pic>
        <p:nvPicPr>
          <p:cNvPr id="9" name="Picture 2" descr="pay402_banner.png">
            <a:extLst>
              <a:ext uri="{FF2B5EF4-FFF2-40B4-BE49-F238E27FC236}">
                <a16:creationId xmlns:a16="http://schemas.microsoft.com/office/drawing/2014/main" id="{882E9894-167D-A349-1E54-D0ADFEEE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Live Demo - See It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🔗 https://merchant-production-0255.up.railway.app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1. Visit Merchant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Click 'Get Premium Data ($0.10)' → HTTP 402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2. Payment Widget Opens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Stripe-like checkout shows 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3. Sign in with 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zkLogin derives SUI address - No wallet!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30352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4. [First Time] Fund USDC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60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Get test USDC for demo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0" y="2011680"/>
            <a:ext cx="457200" cy="4572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01168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5. PTB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4688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Widget verifies transaction before signing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1089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6. Confirm &amp; 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661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1-click sign, gas sponsored by facilitator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4206240"/>
            <a:ext cx="457200" cy="4572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20624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7. Content 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663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Payment confirmed, receipt on blockchain</a:t>
            </a:r>
          </a:p>
        </p:txBody>
      </p:sp>
      <p:pic>
        <p:nvPicPr>
          <p:cNvPr id="26" name="Picture 25" descr="dem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5303520"/>
            <a:ext cx="1097280" cy="1097280"/>
          </a:xfrm>
          <a:prstGeom prst="rect">
            <a:avLst/>
          </a:prstGeom>
        </p:spPr>
      </p:pic>
      <p:pic>
        <p:nvPicPr>
          <p:cNvPr id="27" name="Picture 2" descr="pay402_banner.png">
            <a:extLst>
              <a:ext uri="{FF2B5EF4-FFF2-40B4-BE49-F238E27FC236}">
                <a16:creationId xmlns:a16="http://schemas.microsoft.com/office/drawing/2014/main" id="{9E1AE0E0-0B05-1348-0A1C-009024D2C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How We Built It - 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2852"/>
            <a:ext cx="411480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57268"/>
            <a:ext cx="3931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⛓️ On-Chain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3068"/>
            <a:ext cx="4114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500">
                <a:solidFill>
                  <a:srgbClr val="4A4A4A"/>
                </a:solidFill>
              </a:defRPr>
            </a:pPr>
            <a:r>
              <a:rPr dirty="0"/>
              <a:t>• Smart Contract (SUI Move)</a:t>
            </a:r>
          </a:p>
          <a:p>
            <a:pPr>
              <a:spcAft>
                <a:spcPts val="1000"/>
              </a:spcAft>
              <a:defRPr sz="1500">
                <a:solidFill>
                  <a:srgbClr val="4A4A4A"/>
                </a:solidFill>
              </a:defRPr>
            </a:pPr>
            <a:r>
              <a:rPr dirty="0"/>
              <a:t>• Generic Coin&lt;T&gt; settlement</a:t>
            </a:r>
          </a:p>
          <a:p>
            <a:pPr>
              <a:spcAft>
                <a:spcPts val="1000"/>
              </a:spcAft>
              <a:defRPr sz="1500">
                <a:solidFill>
                  <a:srgbClr val="4A4A4A"/>
                </a:solidFill>
              </a:defRPr>
            </a:pPr>
            <a:r>
              <a:rPr dirty="0"/>
              <a:t>• Atomic PTB execution</a:t>
            </a:r>
          </a:p>
          <a:p>
            <a:pPr>
              <a:spcAft>
                <a:spcPts val="1000"/>
              </a:spcAft>
              <a:defRPr sz="1500">
                <a:solidFill>
                  <a:srgbClr val="4A4A4A"/>
                </a:solidFill>
              </a:defRPr>
            </a:pPr>
            <a:r>
              <a:rPr dirty="0"/>
              <a:t>• On-chain receipt events</a:t>
            </a:r>
          </a:p>
          <a:p>
            <a:pPr>
              <a:spcAft>
                <a:spcPts val="1000"/>
              </a:spcAft>
              <a:defRPr sz="1500">
                <a:solidFill>
                  <a:srgbClr val="4A4A4A"/>
                </a:solidFill>
              </a:defRPr>
            </a:pPr>
            <a:r>
              <a:rPr dirty="0"/>
              <a:t>• Circle USDC (native)</a:t>
            </a:r>
          </a:p>
          <a:p>
            <a:pPr>
              <a:spcAft>
                <a:spcPts val="1000"/>
              </a:spcAft>
              <a:defRPr sz="1500">
                <a:solidFill>
                  <a:srgbClr val="4A4A4A"/>
                </a:solidFill>
              </a:defRPr>
            </a:pPr>
            <a:r>
              <a:rPr dirty="0"/>
              <a:t>• Gas sponsorship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182852"/>
            <a:ext cx="3657600" cy="54864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0" y="1157268"/>
            <a:ext cx="3474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☁️ Off-Chain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5340" y="1843068"/>
            <a:ext cx="2163477" cy="43652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  <a:defRPr sz="1700" b="1">
                <a:solidFill>
                  <a:srgbClr val="764BA2"/>
                </a:solidFill>
              </a:defRPr>
            </a:pPr>
            <a:r>
              <a:rPr dirty="0"/>
              <a:t>Facilitator API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rPr dirty="0"/>
              <a:t>(Node.js + TypeScript)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PTB construction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Balance checking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Settlement modes</a:t>
            </a:r>
          </a:p>
          <a:p>
            <a:pPr>
              <a:spcBef>
                <a:spcPts val="1200"/>
              </a:spcBef>
              <a:defRPr sz="1700" b="1">
                <a:solidFill>
                  <a:srgbClr val="764BA2"/>
                </a:solidFill>
              </a:defRPr>
            </a:pPr>
            <a:r>
              <a:rPr dirty="0"/>
              <a:t>Payment Widget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rPr dirty="0"/>
              <a:t>(React + Vite)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</a:t>
            </a:r>
            <a:r>
              <a:rPr dirty="0" err="1"/>
              <a:t>zkLogin</a:t>
            </a:r>
            <a:r>
              <a:rPr dirty="0"/>
              <a:t> integration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PTB verification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Payment UI</a:t>
            </a:r>
          </a:p>
          <a:p>
            <a:pPr>
              <a:spcBef>
                <a:spcPts val="1200"/>
              </a:spcBef>
              <a:defRPr sz="1700" b="1">
                <a:solidFill>
                  <a:srgbClr val="764BA2"/>
                </a:solidFill>
              </a:defRPr>
            </a:pPr>
            <a:r>
              <a:rPr dirty="0"/>
              <a:t>Merchant</a:t>
            </a:r>
          </a:p>
          <a:p>
            <a:pPr>
              <a:spcAft>
                <a:spcPts val="600"/>
              </a:spcAft>
              <a:defRPr sz="1300">
                <a:solidFill>
                  <a:srgbClr val="4A4A4A"/>
                </a:solidFill>
              </a:defRPr>
            </a:pPr>
            <a:r>
              <a:rPr dirty="0"/>
              <a:t>(Node.js + Express)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Invoice generation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HTTP 402 pattern</a:t>
            </a:r>
          </a:p>
          <a:p>
            <a:pPr lvl="1">
              <a:spcAft>
                <a:spcPts val="400"/>
              </a:spcAft>
              <a:defRPr sz="1400">
                <a:solidFill>
                  <a:srgbClr val="4A4A4A"/>
                </a:solidFill>
              </a:defRPr>
            </a:pPr>
            <a:r>
              <a:rPr dirty="0"/>
              <a:t>• Content delivery</a:t>
            </a:r>
          </a:p>
        </p:txBody>
      </p:sp>
      <p:pic>
        <p:nvPicPr>
          <p:cNvPr id="10" name="Picture 2" descr="pay402_banner.png">
            <a:extLst>
              <a:ext uri="{FF2B5EF4-FFF2-40B4-BE49-F238E27FC236}">
                <a16:creationId xmlns:a16="http://schemas.microsoft.com/office/drawing/2014/main" id="{CAE60A3E-92E5-035E-F0BE-4B180F8D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7230"/>
            <a:ext cx="1528474" cy="859767"/>
          </a:xfrm>
          <a:prstGeom prst="rect">
            <a:avLst/>
          </a:prstGeom>
        </p:spPr>
      </p:pic>
      <p:pic>
        <p:nvPicPr>
          <p:cNvPr id="11" name="Picture 6" descr="demo_qr.png">
            <a:extLst>
              <a:ext uri="{FF2B5EF4-FFF2-40B4-BE49-F238E27FC236}">
                <a16:creationId xmlns:a16="http://schemas.microsoft.com/office/drawing/2014/main" id="{D513289E-1148-5675-2C54-0137FD223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35074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Implementation Status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4846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749039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764BA2"/>
                </a:solidFill>
              </a:defRPr>
            </a:pPr>
            <a:r>
              <a:t>Hackathon Achievements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OAuth Login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Gas Sponsorship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PTB Validation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zkLogin Signing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Optimistic Settlement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Pessimistic Settlement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USDC Persistence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Merchant Onboarding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✅ On-Chain Receipts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3657600" cy="4846320"/>
          </a:xfrm>
          <a:prstGeom prst="roundRect">
            <a:avLst/>
          </a:prstGeom>
          <a:solidFill>
            <a:srgbClr val="E0D4F7"/>
          </a:solidFill>
          <a:ln w="127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0" y="1554480"/>
            <a:ext cx="3103735" cy="33804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764BA2"/>
                </a:solidFill>
              </a:defRPr>
            </a:pPr>
            <a:r>
              <a:rPr lang="en-US" dirty="0"/>
              <a:t>Roadmap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</a:t>
            </a:r>
            <a:r>
              <a:rPr dirty="0" err="1"/>
              <a:t>Mainnet</a:t>
            </a:r>
            <a:r>
              <a:rPr dirty="0"/>
              <a:t> Deployment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Browser Extension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Production Monitoring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Multi-Region Nodes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Embeddable Widget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Merchant SDK (NPM)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CCTP Integration</a:t>
            </a:r>
            <a:r>
              <a:rPr lang="en-US" dirty="0"/>
              <a:t> for multi-chain </a:t>
            </a:r>
            <a:br>
              <a:rPr lang="en-US" dirty="0"/>
            </a:br>
            <a:r>
              <a:rPr lang="en-US" dirty="0"/>
              <a:t>       settlement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rPr dirty="0"/>
              <a:t>🔄 Merchant Dashboard</a:t>
            </a:r>
          </a:p>
        </p:txBody>
      </p:sp>
      <p:pic>
        <p:nvPicPr>
          <p:cNvPr id="9" name="Picture 2" descr="pay402_banner.png">
            <a:extLst>
              <a:ext uri="{FF2B5EF4-FFF2-40B4-BE49-F238E27FC236}">
                <a16:creationId xmlns:a16="http://schemas.microsoft.com/office/drawing/2014/main" id="{EA60E501-F7BA-2F17-A599-BB285238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y402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270" y="-119961"/>
            <a:ext cx="5691930" cy="56919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0D4F7"/>
                </a:solidFill>
              </a:defRPr>
            </a:pPr>
            <a:r>
              <a:rPr dirty="0"/>
              <a:t>First x402 on SUI - Best x402,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🔗 merchant-production-0255.up.railway.app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💻 github.com/hamiha70/Pay402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0D4F7"/>
                </a:solidFill>
              </a:defRPr>
            </a:pPr>
            <a:r>
              <a:t>Solo Hacker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Trust Model &amp; PTB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spcBef>
                <a:spcPts val="1600"/>
              </a:spcBef>
              <a:spcAft>
                <a:spcPts val="800"/>
              </a:spcAft>
              <a:defRPr sz="1800" b="1">
                <a:solidFill>
                  <a:srgbClr val="764BA2"/>
                </a:solidFill>
              </a:defRPr>
            </a:pPr>
            <a:r>
              <a:t>Buyer DOES NOT trust facilitator for: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Spending funds without signature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Altering payment amount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Redirecting to wrong merchant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 b="1">
                <a:solidFill>
                  <a:srgbClr val="764BA2"/>
                </a:solidFill>
              </a:defRPr>
            </a:pPr>
            <a:r>
              <a:t>Buyer TRUSTS: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Own signature (zkLogin)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PTB verification in widget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SUI blockchain execution</a:t>
            </a:r>
          </a:p>
          <a:p>
            <a:pPr>
              <a:spcBef>
                <a:spcPts val="1600"/>
              </a:spcBef>
              <a:spcAft>
                <a:spcPts val="800"/>
              </a:spcAft>
              <a:defRPr sz="1800" b="1">
                <a:solidFill>
                  <a:srgbClr val="764BA2"/>
                </a:solidFill>
              </a:defRPr>
            </a:pPr>
            <a:r>
              <a:t>PTB Verification Checks: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Only allowed commands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Amount matches invoice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Recipient is merchant</a:t>
            </a:r>
          </a:p>
          <a:p>
            <a:pPr lvl="1">
              <a:spcAft>
                <a:spcPts val="600"/>
              </a:spcAft>
              <a:defRPr sz="1500">
                <a:solidFill>
                  <a:srgbClr val="4A4A4A"/>
                </a:solidFill>
              </a:defRPr>
            </a:pPr>
            <a:r>
              <a:t>• No unauthorized transfers</a:t>
            </a:r>
          </a:p>
        </p:txBody>
      </p:sp>
      <p:pic>
        <p:nvPicPr>
          <p:cNvPr id="5" name="Picture 2" descr="pay402_banner.png">
            <a:extLst>
              <a:ext uri="{FF2B5EF4-FFF2-40B4-BE49-F238E27FC236}">
                <a16:creationId xmlns:a16="http://schemas.microsoft.com/office/drawing/2014/main" id="{3F0CD9DA-992D-ACD1-32D9-78E82D3E1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Why SUI? - Detailed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645920"/>
          <a:ext cx="8595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SUI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Solana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EVM (Base)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zkLogin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⚠️ Complex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PTBs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⚠️ Versioned 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❌ Single-call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Object Model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Owned objects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Account-based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Account-based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Finality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600-700ms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~400ms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~12 min (L1)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Gas Sponsor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Supported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⚠️ EIP-4337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Receipt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~$0.0003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~$0.00025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1A"/>
                          </a:solidFill>
                        </a:defRPr>
                      </a:pPr>
                      <a:r>
                        <a:t>~$0.50-$5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77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764BA2"/>
                </a:solidFill>
              </a:defRPr>
            </a:pPr>
            <a:r>
              <a:t>Key Insight: Not 'only possible on SUI' - but dramatically simpler and better</a:t>
            </a:r>
          </a:p>
        </p:txBody>
      </p:sp>
      <p:pic>
        <p:nvPicPr>
          <p:cNvPr id="6" name="Picture 2" descr="pay402_banner.png">
            <a:extLst>
              <a:ext uri="{FF2B5EF4-FFF2-40B4-BE49-F238E27FC236}">
                <a16:creationId xmlns:a16="http://schemas.microsoft.com/office/drawing/2014/main" id="{FD171271-1AEB-D591-4BD6-72D5A504B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zkLogin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64BA2"/>
                </a:solidFill>
              </a:defRPr>
            </a:pPr>
            <a:r>
              <a:t>Traditional Crypto Payment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Install wallet extension (2 min)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Save seed phrase (3 min)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Buy crypto on exchange (1-3 days)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Transfer to wallet (10 min)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Connect to site (1 min)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Sign transaction (30 sec)</a:t>
            </a:r>
          </a:p>
          <a:p>
            <a:pPr>
              <a:spcAft>
                <a:spcPts val="600"/>
              </a:spcAft>
              <a:defRPr sz="1300" b="0">
                <a:solidFill>
                  <a:srgbClr val="764BA2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 b="1">
                <a:solidFill>
                  <a:srgbClr val="764BA2"/>
                </a:solidFill>
              </a:defRPr>
            </a:pPr>
            <a:r>
              <a:t>Total: Days of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64BA2"/>
                </a:solidFill>
              </a:defRPr>
            </a:pPr>
            <a:r>
              <a:t>Pay402 with zkLogin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Click payment link (1 sec)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Sign in with Google (3 sec)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First time: get address (instant)</a:t>
            </a:r>
          </a:p>
          <a:p>
            <a:pPr>
              <a:spcAft>
                <a:spcPts val="600"/>
              </a:spcAft>
              <a:defRPr sz="1300" b="0">
                <a:solidFill>
                  <a:srgbClr val="4A4A4A"/>
                </a:solidFill>
              </a:defRPr>
            </a:pPr>
            <a:r>
              <a:t>Confirm payment (1 sec)</a:t>
            </a:r>
          </a:p>
          <a:p>
            <a:pPr>
              <a:spcAft>
                <a:spcPts val="600"/>
              </a:spcAft>
              <a:defRPr sz="1300" b="0">
                <a:solidFill>
                  <a:srgbClr val="764BA2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300" b="1">
                <a:solidFill>
                  <a:srgbClr val="764BA2"/>
                </a:solidFill>
              </a:defRPr>
            </a:pPr>
            <a:r>
              <a:t>Total: ~5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64BA2"/>
                </a:solidFill>
              </a:defRPr>
            </a:pPr>
            <a:r>
              <a:t>How zkLogin Works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1. User authenticates with Google (OAuth 2.0)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2. zkLogin derives: Address = Hash(Provider + User_ID + Salt)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3. User signs with ephemeral key + ZK proof</a:t>
            </a:r>
          </a:p>
          <a:p>
            <a:pPr>
              <a:spcAft>
                <a:spcPts val="800"/>
              </a:spcAft>
              <a:defRPr sz="1400">
                <a:solidFill>
                  <a:srgbClr val="4A4A4A"/>
                </a:solidFill>
              </a:defRPr>
            </a:pPr>
            <a:r>
              <a:t>4. SUI validators verify proof and execute</a:t>
            </a:r>
          </a:p>
        </p:txBody>
      </p:sp>
      <p:pic>
        <p:nvPicPr>
          <p:cNvPr id="7" name="Picture 2" descr="pay402_banner.png">
            <a:extLst>
              <a:ext uri="{FF2B5EF4-FFF2-40B4-BE49-F238E27FC236}">
                <a16:creationId xmlns:a16="http://schemas.microsoft.com/office/drawing/2014/main" id="{BE2BA5C7-F005-F74D-2F69-68327DDC4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286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Gas Sponsorship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764BA2"/>
                </a:solidFill>
              </a:defRPr>
            </a:pPr>
            <a:r>
              <a:t>How It Works on SUI</a:t>
            </a:r>
          </a:p>
          <a:p>
            <a:pPr>
              <a:spcAft>
                <a:spcPts val="1000"/>
              </a:spcAft>
              <a:defRPr sz="1600">
                <a:solidFill>
                  <a:srgbClr val="4A4A4A"/>
                </a:solidFill>
              </a:defRPr>
            </a:pPr>
            <a:r>
              <a:t>PTB has two 'actors':</a:t>
            </a:r>
          </a:p>
          <a:p>
            <a:pPr lvl="1">
              <a:spcAft>
                <a:spcPts val="800"/>
              </a:spcAft>
              <a:defRPr sz="1400">
                <a:solidFill>
                  <a:srgbClr val="667EEA"/>
                </a:solidFill>
                <a:latin typeface="Courier New"/>
              </a:defRPr>
            </a:pPr>
            <a:r>
              <a:t>ptb.setSender(buyerAddress) // Who initiates (owns USDC)</a:t>
            </a:r>
          </a:p>
          <a:p>
            <a:pPr lvl="1">
              <a:spcAft>
                <a:spcPts val="800"/>
              </a:spcAft>
              <a:defRPr sz="1400">
                <a:solidFill>
                  <a:srgbClr val="667EEA"/>
                </a:solidFill>
                <a:latin typeface="Courier New"/>
              </a:defRPr>
            </a:pPr>
            <a:r>
              <a:t>ptb.setGasOwner(facilitatorAddress) // Who pays gas (owns SUI)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4114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64BA2"/>
                </a:solidFill>
              </a:defRPr>
            </a:pPr>
            <a:r>
              <a:t>Why This Is Safe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✓ Buyer signature = USDC spend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✓ Facilitator signature = SUI gas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✓ Neither can spend other's funds</a:t>
            </a:r>
          </a:p>
          <a:p>
            <a:pPr>
              <a:spcAft>
                <a:spcPts val="800"/>
              </a:spcAft>
              <a:defRPr sz="1500">
                <a:solidFill>
                  <a:srgbClr val="4A4A4A"/>
                </a:solidFill>
              </a:defRPr>
            </a:pPr>
            <a:r>
              <a:t>✓ Object model enforces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657600"/>
            <a:ext cx="3657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64BA2"/>
                </a:solidFill>
              </a:defRPr>
            </a:pPr>
            <a:r>
              <a:t>Economic Attack Mitigation</a:t>
            </a:r>
          </a:p>
          <a:p>
            <a:pPr>
              <a:spcAft>
                <a:spcPts val="600"/>
              </a:spcAft>
              <a:defRPr sz="1400" b="0">
                <a:solidFill>
                  <a:srgbClr val="4A4A4A"/>
                </a:solidFill>
              </a:defRPr>
            </a:pPr>
            <a:r>
              <a:t>Gas budget capped per tx (~$0.01 max)</a:t>
            </a:r>
          </a:p>
          <a:p>
            <a:pPr>
              <a:spcAft>
                <a:spcPts val="600"/>
              </a:spcAft>
              <a:defRPr sz="1400" b="0">
                <a:solidFill>
                  <a:srgbClr val="4A4A4A"/>
                </a:solidFill>
              </a:defRPr>
            </a:pPr>
            <a:r>
              <a:t>Facilitator rate-limits by address</a:t>
            </a:r>
          </a:p>
          <a:p>
            <a:pPr>
              <a:spcAft>
                <a:spcPts val="600"/>
              </a:spcAft>
              <a:defRPr sz="1400" b="0">
                <a:solidFill>
                  <a:srgbClr val="4A4A4A"/>
                </a:solidFill>
              </a:defRPr>
            </a:pPr>
            <a:r>
              <a:t>PTB verifier prevents complex calls</a:t>
            </a:r>
          </a:p>
          <a:p>
            <a:pPr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 b="0">
                <a:solidFill>
                  <a:srgbClr val="4A4A4A"/>
                </a:solidFill>
              </a:defRPr>
            </a:pPr>
            <a:r>
              <a:t>Cost per tx: ~$0.0002 gas</a:t>
            </a:r>
          </a:p>
          <a:p>
            <a:pPr>
              <a:spcAft>
                <a:spcPts val="600"/>
              </a:spcAft>
              <a:defRPr sz="1400" b="0">
                <a:solidFill>
                  <a:srgbClr val="4A4A4A"/>
                </a:solidFill>
              </a:defRPr>
            </a:pPr>
            <a:r>
              <a:t>Facilitator fee: $0.001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Net profit: ~$0.0008</a:t>
            </a:r>
          </a:p>
        </p:txBody>
      </p:sp>
      <p:pic>
        <p:nvPicPr>
          <p:cNvPr id="7" name="Picture 2" descr="pay402_banner.png">
            <a:extLst>
              <a:ext uri="{FF2B5EF4-FFF2-40B4-BE49-F238E27FC236}">
                <a16:creationId xmlns:a16="http://schemas.microsoft.com/office/drawing/2014/main" id="{49E02E58-648F-F056-13F4-931E253FE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73036"/>
            <a:ext cx="1528474" cy="8597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</Words>
  <Application>Microsoft Office PowerPoint</Application>
  <PresentationFormat>Bildschirmpräsentation (4:3)</PresentationFormat>
  <Paragraphs>202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Hans-Michael Hauser</cp:lastModifiedBy>
  <cp:revision>1</cp:revision>
  <dcterms:created xsi:type="dcterms:W3CDTF">2013-01-27T09:14:16Z</dcterms:created>
  <dcterms:modified xsi:type="dcterms:W3CDTF">2026-02-08T14:42:57Z</dcterms:modified>
  <cp:category/>
</cp:coreProperties>
</file>